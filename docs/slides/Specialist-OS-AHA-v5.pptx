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mp3" ContentType="audio/mpeg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749f184ea84ec2" /><Relationship Type="http://schemas.openxmlformats.org/officeDocument/2006/relationships/extended-properties" Target="/docProps/app.xml" Id="Rb8f397d4000e487f" /><Relationship Type="http://schemas.openxmlformats.org/officeDocument/2006/relationships/officeDocument" Target="/ppt/presentation.xml" Id="R67f4bf828de147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b90ccb2ef74226"/>
  </p:sldMasterIdLst>
  <p:notesMasterIdLst>
    <p:notesMasterId xmlns:r="http://schemas.openxmlformats.org/officeDocument/2006/relationships" r:id="R9db6f21b35944310"/>
  </p:notesMasterIdLst>
  <p:sldIdLst>
    <p:sldId xmlns:r="http://schemas.openxmlformats.org/officeDocument/2006/relationships" id="256" r:id="Rc19497fced734bba"/>
    <p:sldId xmlns:r="http://schemas.openxmlformats.org/officeDocument/2006/relationships" id="257" r:id="Re94ae082e13a49f9"/>
    <p:sldId xmlns:r="http://schemas.openxmlformats.org/officeDocument/2006/relationships" id="258" r:id="R1e37ff9e8ce64271"/>
    <p:sldId xmlns:r="http://schemas.openxmlformats.org/officeDocument/2006/relationships" id="259" r:id="R467b8730506345a7"/>
    <p:sldId xmlns:r="http://schemas.openxmlformats.org/officeDocument/2006/relationships" id="260" r:id="R3a685ce523b14c56"/>
    <p:sldId xmlns:r="http://schemas.openxmlformats.org/officeDocument/2006/relationships" id="261" r:id="Rbc53510541bc4fa6"/>
    <p:sldId xmlns:r="http://schemas.openxmlformats.org/officeDocument/2006/relationships" id="262" r:id="R9475ab7dd6fe4383"/>
    <p:sldId xmlns:r="http://schemas.openxmlformats.org/officeDocument/2006/relationships" id="263" r:id="R04cf4b1bd05747bb"/>
    <p:sldId xmlns:r="http://schemas.openxmlformats.org/officeDocument/2006/relationships" id="264" r:id="Rf2ffb4af73ae4944"/>
    <p:sldId xmlns:r="http://schemas.openxmlformats.org/officeDocument/2006/relationships" id="265" r:id="Rf71d89cefe7a42e0"/>
    <p:sldId xmlns:r="http://schemas.openxmlformats.org/officeDocument/2006/relationships" id="266" r:id="R198efcdc80de4762"/>
    <p:sldId xmlns:r="http://schemas.openxmlformats.org/officeDocument/2006/relationships" id="267" r:id="Rdb93e38f10454836"/>
    <p:sldId xmlns:r="http://schemas.openxmlformats.org/officeDocument/2006/relationships" id="268" r:id="Rc61affab229346fc"/>
    <p:sldId xmlns:r="http://schemas.openxmlformats.org/officeDocument/2006/relationships" id="269" r:id="Rca58822fb30a46bb"/>
    <p:sldId xmlns:r="http://schemas.openxmlformats.org/officeDocument/2006/relationships" id="270" r:id="R3f9b959d144d4b73"/>
    <p:sldId xmlns:r="http://schemas.openxmlformats.org/officeDocument/2006/relationships" id="271" r:id="R269a81f2c5e847ce"/>
    <p:sldId xmlns:r="http://schemas.openxmlformats.org/officeDocument/2006/relationships" id="272" r:id="R9edbeb622eb34f9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7be1dc32a3434d" /><Relationship Type="http://schemas.openxmlformats.org/officeDocument/2006/relationships/slideMaster" Target="/ppt/slideMasters/slideMaster1.xml" Id="R73b90ccb2ef74226" /><Relationship Type="http://schemas.openxmlformats.org/officeDocument/2006/relationships/notesMaster" Target="/ppt/notesMasters/notesMaster1.xml" Id="R9db6f21b35944310" /><Relationship Type="http://schemas.openxmlformats.org/officeDocument/2006/relationships/presProps" Target="/ppt/presProps.xml" Id="R01652f858c7845e5" /><Relationship Type="http://schemas.openxmlformats.org/officeDocument/2006/relationships/tableStyles" Target="/ppt/tableStyles.xml" Id="R6f165991b78d4297" /><Relationship Type="http://schemas.openxmlformats.org/officeDocument/2006/relationships/slide" Target="/ppt/slides/slide1.xml" Id="Rc19497fced734bba" /><Relationship Type="http://schemas.openxmlformats.org/officeDocument/2006/relationships/slide" Target="/ppt/slides/slide2.xml" Id="Re94ae082e13a49f9" /><Relationship Type="http://schemas.openxmlformats.org/officeDocument/2006/relationships/slide" Target="/ppt/slides/slide3.xml" Id="R1e37ff9e8ce64271" /><Relationship Type="http://schemas.openxmlformats.org/officeDocument/2006/relationships/slide" Target="/ppt/slides/slide4.xml" Id="R467b8730506345a7" /><Relationship Type="http://schemas.openxmlformats.org/officeDocument/2006/relationships/slide" Target="/ppt/slides/slide5.xml" Id="R3a685ce523b14c56" /><Relationship Type="http://schemas.openxmlformats.org/officeDocument/2006/relationships/slide" Target="/ppt/slides/slide6.xml" Id="Rbc53510541bc4fa6" /><Relationship Type="http://schemas.openxmlformats.org/officeDocument/2006/relationships/slide" Target="/ppt/slides/slide7.xml" Id="R9475ab7dd6fe4383" /><Relationship Type="http://schemas.openxmlformats.org/officeDocument/2006/relationships/slide" Target="/ppt/slides/slide8.xml" Id="R04cf4b1bd05747bb" /><Relationship Type="http://schemas.openxmlformats.org/officeDocument/2006/relationships/slide" Target="/ppt/slides/slide9.xml" Id="Rf2ffb4af73ae4944" /><Relationship Type="http://schemas.openxmlformats.org/officeDocument/2006/relationships/slide" Target="/ppt/slides/slide10.xml" Id="Rf71d89cefe7a42e0" /><Relationship Type="http://schemas.openxmlformats.org/officeDocument/2006/relationships/slide" Target="/ppt/slides/slide11.xml" Id="R198efcdc80de4762" /><Relationship Type="http://schemas.openxmlformats.org/officeDocument/2006/relationships/slide" Target="/ppt/slides/slide12.xml" Id="Rdb93e38f10454836" /><Relationship Type="http://schemas.openxmlformats.org/officeDocument/2006/relationships/slide" Target="/ppt/slides/slide13.xml" Id="Rc61affab229346fc" /><Relationship Type="http://schemas.openxmlformats.org/officeDocument/2006/relationships/slide" Target="/ppt/slides/slide14.xml" Id="Rca58822fb30a46bb" /><Relationship Type="http://schemas.openxmlformats.org/officeDocument/2006/relationships/slide" Target="/ppt/slides/slide15.xml" Id="R3f9b959d144d4b73" /><Relationship Type="http://schemas.openxmlformats.org/officeDocument/2006/relationships/slide" Target="/ppt/slides/slide16.xml" Id="R269a81f2c5e847ce" /><Relationship Type="http://schemas.openxmlformats.org/officeDocument/2006/relationships/slide" Target="/ppt/slides/slide17.xml" Id="R9edbeb622eb34f9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6c69fc08b448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4a6439d0154df5" /><Relationship Type="http://schemas.openxmlformats.org/officeDocument/2006/relationships/notesMaster" Target="/ppt/notesMasters/notesMaster1.xml" Id="R5a7655f1ca8640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852ef8f5754d75" /><Relationship Type="http://schemas.openxmlformats.org/officeDocument/2006/relationships/notesMaster" Target="/ppt/notesMasters/notesMaster1.xml" Id="Rd2ffb3a63f0140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f91a559a64f24" /><Relationship Type="http://schemas.openxmlformats.org/officeDocument/2006/relationships/notesMaster" Target="/ppt/notesMasters/notesMaster1.xml" Id="R3db2573381f240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822aa782334851" /><Relationship Type="http://schemas.openxmlformats.org/officeDocument/2006/relationships/notesMaster" Target="/ppt/notesMasters/notesMaster1.xml" Id="Rf9af560ea8b1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5cce3601c44e9c" /><Relationship Type="http://schemas.openxmlformats.org/officeDocument/2006/relationships/notesMaster" Target="/ppt/notesMasters/notesMaster1.xml" Id="R0bfc5479aa2e44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1121d66c2b4cb7" /><Relationship Type="http://schemas.openxmlformats.org/officeDocument/2006/relationships/notesMaster" Target="/ppt/notesMasters/notesMaster1.xml" Id="R9ab3e87398b34e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6643c343e540d1" /><Relationship Type="http://schemas.openxmlformats.org/officeDocument/2006/relationships/notesMaster" Target="/ppt/notesMasters/notesMaster1.xml" Id="Rca985101032545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68eaf2c37249d9" /><Relationship Type="http://schemas.openxmlformats.org/officeDocument/2006/relationships/notesMaster" Target="/ppt/notesMasters/notesMaster1.xml" Id="R2547fac58fa14d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e34d1806d546d8" /><Relationship Type="http://schemas.openxmlformats.org/officeDocument/2006/relationships/notesMaster" Target="/ppt/notesMasters/notesMaster1.xml" Id="R9e8f787c547a40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cd2ad0ad5c4426" /><Relationship Type="http://schemas.openxmlformats.org/officeDocument/2006/relationships/notesMaster" Target="/ppt/notesMasters/notesMaster1.xml" Id="Ra18df21d6a2c42b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f988f328e84ca0" /><Relationship Type="http://schemas.openxmlformats.org/officeDocument/2006/relationships/notesMaster" Target="/ppt/notesMasters/notesMaster1.xml" Id="R82f1fc8423574a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58711718844efc" /><Relationship Type="http://schemas.openxmlformats.org/officeDocument/2006/relationships/notesMaster" Target="/ppt/notesMasters/notesMaster1.xml" Id="Rf3618f63e50d49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122a760213409f" /><Relationship Type="http://schemas.openxmlformats.org/officeDocument/2006/relationships/notesMaster" Target="/ppt/notesMasters/notesMaster1.xml" Id="R846929b5c91945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c68914206a94862" /><Relationship Type="http://schemas.openxmlformats.org/officeDocument/2006/relationships/notesMaster" Target="/ppt/notesMasters/notesMaster1.xml" Id="R6c69ac5c7ad64a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0ff34e53b34965" /><Relationship Type="http://schemas.openxmlformats.org/officeDocument/2006/relationships/notesMaster" Target="/ppt/notesMasters/notesMaster1.xml" Id="R6f813c4f473e42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9d8219f9e64040" /><Relationship Type="http://schemas.openxmlformats.org/officeDocument/2006/relationships/notesMaster" Target="/ppt/notesMasters/notesMaster1.xml" Id="Ra8d153869f45455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35fccb7f354fd5" /><Relationship Type="http://schemas.openxmlformats.org/officeDocument/2006/relationships/notesMaster" Target="/ppt/notesMasters/notesMaster1.xml" Id="Rb84714736cc94d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## 1. LLM 也能做，为什么还要专业模型？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0:00–0:35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 Specialist OS 让 Agent 按需调用本地专业能力。通用模型已经可以看图、读文档、理解音频，也可以写代码或调用工具完成很多专业任务。今天讨论的是如何组织这项工作：什么时候直接用通用模型，什么时候让 Agent 调用一个专用实现。我们从任务需要交付的结果出发，看本地模型与算子怎样加入 Agent 的工作流。十五分钟分享之后，用十分钟看实际运行。工程同事可以沿用相同接口接入项目，产品同事可以把自己的业务材料带入这些路径。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资料来源：用户确认的分享主题；README.md；skills/specialist-os/SKILL.md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Logo：docs/assets/brand/specialist-os-logo-b-transparent.png，源自 Logo 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0:35–1:30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能理解一份材料，与怎样把结果交给下一个系统，是两个相连的设计问题。通用模型可以直接回答，也可以生成代码、组织工具调用。专用实现提供既定的输入输出：图像编辑需要 mask，文档入库需要区域和表格，录音检索需要时间线，编曲需要 MIDI。Agent 可以沿用这些实现，把结果拿回来继续推理与交互。这里没有把某类输出说成 LLM 永远做不到，而是展示可以复用的执行路径。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资料来源：registry/models.yaml；本 deck 对应的视觉、文档、语音和音乐 CLI 证据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1:30–2:25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 理解目标，Agent 决定哪些步骤直接完成，哪些步骤交给工具。Specialist OS 把专业模型和确定性算子做成统一的能力接口，负责依赖准备、模型管理与隔离执行。结果回到 Agent 后，它可以解释结果、请求复核或继续下一步。宿主只要具备相应的 CLI 或 MCP 工具调用能力，就可以接入这条路径。Skill 是发现和调用说明，业务代码也可以直接使用 SDK 或 HTTP。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资料来源：docs/architecture.md；specialist/runtime.py；specialist/providers/base.py；skills/specialist-os/references/integration.md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2:25–3:30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Core 固定为 15 个能力族、56 个 API，包含算子和组合能力。选择时先问业务需要什么输出，再决定模型。ADR-003 保留深度估计、相机标定与 PnP 等已有算子，空间重建留在实验路线，生成式 3D 留在可选重型包路线。近期投入集中在安装、性能与调用质量。模型许可证和硬件要求按实际选中的提供方检查。Fish S2 使用独立本机服务。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资料来源：specialist/core.py；registry/models.yaml；docs/adr/003-defer-spatial-3d-core.md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3:30–4:25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两幅图来自本轮 CLI 结果。检测定位人和车辆，再将公交车框传给 SAM 提取整车区域。深度图补充前后层次，适合区域排序。业务可围绕目标建立复核或素材处理流程。深度属于相对估计，真实尺寸测量需要额外标定与尺度依据。现场会重新运行这条路径，展示原图与结果。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资料来源：output/demo/core15-20260907/assets/vision-detect.json；vision-segment.json；vision-depth.json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4:25–5:20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左侧是本轮 PaddleOCR 返回的 124 个文字区域，位置与置信度支持字段复核。MinerU 本轮处理了 10 页论文，提取 9 张表格，耗时 0.0 秒。正文、公式和表格可以分别进入知识检索与数据校验流程。现场打开解析结果，选择一张表格与原文核对。工程接入时，字段质量应使用自己的业务样本评估。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资料来源：output/demo/core15-20260907/assets/document-parse.json；output/demo/rehearsals/20260907T030519.523169Z/stdout.json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5:20–6:10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左侧展示本轮 OmniParser 标注结果，共 120 个元素，包含文本、图标、坐标和置信度。独立 CPU 彩排约 24 秒。Agent 可以借此定位搜索栏或文件入口，再交给自动化工具操作并重新观察。产品机会包括界面知识提取和测试辅助。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资料来源：output/demo/core15-20260907/assets/screen-parse.json；output/demo/rehearsals/20260907T030813.425434Z/summary.json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6:10–7:05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三类空间结果分别对应生成资产、估计几何和可测量的相机依据。它们都由本机 CLI 执行，输出保留输入、模型、设备、耗时和哈希。实验路线不改变 Core 15。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资料来源：output/demo/spatial/triposr-chair-01/result.json；output/demo/spatial/moge2-bus-03/result.json；output/demo/spatial/chessboard-01/summary.json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7:05–8:00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这里用的是一段二十秒的故障讨论，内容涉及结账失败、支付回调和回滚。VAD 先给出语音区间，Whisper 提供转写，pyannote 将发言分成两位说话人的四个片段。DeepFilterNet 对带噪版本输出新的音频文件。这样的结果可以进入会议检索、客服回访或事件复盘。说话人标签是自动分组，不代表实名身份。现场会播放处理前后音频，并打开转写与时间线，不需要让听众阅读整个 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资料来源：本次音频彩排 output/demo/rehearsals/20260907T020603.536311Z/stdout.json；输入 meeting-two-speaker.wav 与 noisy 版本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8:00–9:05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Music 扩展包把音乐文件变成可查询的素材信息。这里使用 Kevin MacLeod 的 Vibe Ace，许可 CC BY 3.0。本机 Essentia 输出 BPM 129.70 和 E major，这是模型估计，尚未用标注数据评估准确率。Chromaprint 对同一录音进行指纹比较，是同源素材核对的基础，不是音乐风格相似度。产品可先验证素材编目与剪辑选曲场景。所有数值来自同一输入的实际 CLI 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资料来源：output/music-rehearsal/manifest.json；00-music-analyze.json；03-music-compare_recording.json；https://freemusicarchive.org/music/Kevin_MacLeod/Jazz_Sampler/Vibe_Ace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9:05–10:10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同一段 Vibe Ace，Basic Pitch 返回 380 个音符，用于旋律草稿。MuScriptor 输出电贝斯、电钢琴、鼓三个轨道，共 1063 个音符，本机 MPS 用时 31.29 秒。图表直接统计本次各轨道的音符数量，页面提供完整和分轨 MIDI。audio-separator 用时 16.97 秒，返回人声和伴奏 WAV。该曲是器乐录音，人声轨可检查串音，不能据此判断人声分离准确率。现场先听原曲，再检查轨道、下载 MIDI。MuScriptor 属实验能力，权重为非商业许可，MIDI 未作乐谱量化。应用场景包括编曲草稿、练习素材和素材整理。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资料来源：output/music-rehearsal/manifest.json；05-music-transcribe-multitrack.json；06-music-separate.json；https://huggingface.co/MuScriptor/muscriptor-medium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10:10–11:00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用同一首带人声与伴奏的完整录音演示练习素材。唱段解析先转换音频格式，再调用 Whisper、ROSVOT 和 Essentia，将歌词片段与音符按时间重叠建立关联。完整转写保留 MuScriptor 乐器轨道，再分离音源，用 Basic Pitch 和 ROSVOT 细化相应音轨。各步骤的结果和来源都保留。ACE-Step 使用独立提示词与 Vibe Ace 参考音频生成十五秒配乐，固定种子 42，指定 100 BPM 与 C major。BPM 与调性是生成条件，输出是否精确遵循需要另行测量。本机模型已准备，所有结果关闭缓存。现场打开 music-singing 页面试听原曲、人声、伴奏和生成配乐，再下载 MIDI。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资料来源：output/music-workflow-rehearsal/manifest.json；output/music-generation-controls/manifest.json；output/music-singing-rehearsal/manifest.json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11:00–11:45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Skill 的目标是让新用户只描述任务，不必先熟悉几十个模型。第一次调用先确认 CLI，再查紧凑能力列表，只为选中的能力读取完整格式。安装使用已经验证的 Python 3.12，模型与依赖按任务下载到本机。连续请求可以用批处理复用 worker，跨多轮 Agent 对话可以用持久 MCP 服务。第一次下载与框架初始化要单独展示进度。MinerU pipeline 和 Fish S2 这类额外模型服务需要明确准备，不能把环境未就绪说成已可运行。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资料来源：skills/specialist-os/SKILL.md；specialist capabilities --compact；docs/deployment.md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11:45–12:20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三次独立 YOLO CPU 调用合计 6.02 秒，批处理共 2.00 秒，加速 3 倍。权重已下载，结果缓存关闭，比较的是启动与执行开销。批处理中后两次推理为 50 和 49 毫秒。能力简表输出减少约 93%。本次独立视觉主线为 25.0 秒，音频主线为 18.9 秒。不同模型应分别测量。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资料来源：scripts/benchmark_agent_path.py；output/demo/performance.json；output/demo/rehearsals/20260907T030519.523169Z/summary.json；output/demo/rehearsals/20260907T030746.572431Z/summary.json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12:20–13:15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工程接入从一个能力开始。这里省略了 import 和安装步骤，代码表达的重点是显式使用 real backend、开启隔离并在结束时关闭 runtime。完整例子在 Skill 的 integration 参考文件里。短任务用 CLI 很直接，Python 项目可以持有 runtime，Agent 长会话适合 MCP，跨进程服务可以用 HTTP。业务代码还要处理 error、置信度和产物引用。服务部署时保持本地监听，需要跨机器时配置认证与明确的数据策略。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资料来源：skills/specialist-os/references/integration.md；docs/deployment.md；specialist/runtime.py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13:15–14:05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专业模型是 Agent 可以选择的工具。对特定产物和重复流程，可以复用一个验证过的专业实现。希望数据留在本机时，还需要结合硬件、首次安装和模型许可判断。对开放理解与例外处理，通用模型仍承担重要角色。最终用同一批业务材料比较候选路径，统计质量、端到端等待时间、资源消耗和人工复核量。前面的 YOLO 数据比较的是两种本地执行方式，没有进行专业模型与 LLM 的同题成本或质量对照，因此不能据此给出普遍优劣结论。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资料来源：用户确认的主题与任务分工原则；output/demo/performance.json；registry/models.yaml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14:05–15:00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现在切换到具备本地工具调用能力的 Agent。先从用户目标开始，让 Agent 查能力、执行任务，再展示可用结果。每个案例回答同一个问题：用户下一步拿这个产物做什么？视觉展示检测框、mask 和深度，文档展示表格和位置，语音展示播放定位，音乐展示音符与 MIDI。所有现场请求关闭结果缓存。某个任务超过预定时间，就转到独立步骤并保留当前运行状态。最后展示相同能力接口怎样接入现有项目。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资料来源：docs/demo-runbook.zh-CN.md；scripts/rehearse_demo.py；scripts/rehearse_music.py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ad18cb1a140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29fe18b5ae4a2f" /><Relationship Type="http://schemas.openxmlformats.org/officeDocument/2006/relationships/slideLayout" Target="/ppt/slideLayouts/slideLayout1.xml" Id="R5ec98bcdda5242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c98bcdda5242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ff768aaef490b" /><Relationship Type="http://schemas.openxmlformats.org/officeDocument/2006/relationships/image" Target="/ppt/media/image.png" Id="R9ad04be8b8264ed5" /><Relationship Type="http://schemas.openxmlformats.org/officeDocument/2006/relationships/image" Target="/ppt/media/image2.png" Id="R2502c7e79ae44fff" /><Relationship Type="http://schemas.openxmlformats.org/officeDocument/2006/relationships/notesSlide" Target="/ppt/notesSlides/notesSlide1.xml" Id="Rcf8b85445a1b40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c57e59f0b44f6" /><Relationship Type="http://schemas.openxmlformats.org/officeDocument/2006/relationships/notesSlide" Target="/ppt/notesSlides/notesSlide2.xml" Id="R5130c1adc0af4e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b0bff0a194e33" /><Relationship Type="http://schemas.openxmlformats.org/officeDocument/2006/relationships/notesSlide" Target="/ppt/notesSlides/notesSlide3.xml" Id="Re41ec6184ee04a1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b4d4b45dd4a89" /><Relationship Type="http://schemas.openxmlformats.org/officeDocument/2006/relationships/notesSlide" Target="/ppt/notesSlides/notesSlide4.xml" Id="R424b9a02684541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4a9e21ecd4f15" /><Relationship Type="http://schemas.openxmlformats.org/officeDocument/2006/relationships/image" Target="/ppt/media/image3.png" Id="Rbbc244c5a06d4cc0" /><Relationship Type="http://schemas.openxmlformats.org/officeDocument/2006/relationships/image" Target="/ppt/media/image4.png" Id="Re24878f39e744f77" /><Relationship Type="http://schemas.openxmlformats.org/officeDocument/2006/relationships/notesSlide" Target="/ppt/notesSlides/notesSlide5.xml" Id="R6cf427e92bab45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fa46ee9be4ee0" /><Relationship Type="http://schemas.openxmlformats.org/officeDocument/2006/relationships/image" Target="/ppt/media/image5.png" Id="Rbad474799b8343b0" /><Relationship Type="http://schemas.openxmlformats.org/officeDocument/2006/relationships/notesSlide" Target="/ppt/notesSlides/notesSlide6.xml" Id="R8d6fcc6be7bd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ff031585a4355" /><Relationship Type="http://schemas.openxmlformats.org/officeDocument/2006/relationships/image" Target="/ppt/media/image6.png" Id="R8ec6ed35a19e4e19" /><Relationship Type="http://schemas.openxmlformats.org/officeDocument/2006/relationships/notesSlide" Target="/ppt/notesSlides/notesSlide7.xml" Id="R2c59c1024ae041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849c4b580e484a" /><Relationship Type="http://schemas.openxmlformats.org/officeDocument/2006/relationships/image" Target="/ppt/media/image7.png" Id="R1d75d2fd880345e4" /><Relationship Type="http://schemas.openxmlformats.org/officeDocument/2006/relationships/image" Target="/ppt/media/image8.png" Id="Ra8057cd3d7084c92" /><Relationship Type="http://schemas.openxmlformats.org/officeDocument/2006/relationships/image" Target="/ppt/media/image9.png" Id="R5e30985349244fe9" /><Relationship Type="http://schemas.openxmlformats.org/officeDocument/2006/relationships/notesSlide" Target="/ppt/notesSlides/notesSlide8.xml" Id="R96c3068261f149bc" /></Relationships>
</file>

<file path=ppt/slides/_rels/slide9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31d4c3c6d36c4cfd" /><rel:Relationship Type="http://schemas.openxmlformats.org/officeDocument/2006/relationships/image" Target="/ppt/media/image10.png" Id="Rde544048a99c4066" /><rel:Relationship Type="http://schemas.openxmlformats.org/officeDocument/2006/relationships/image" Target="/ppt/media/image11.png" Id="Rf4859697be814dcf" /><rel:Relationship Type="http://schemas.openxmlformats.org/officeDocument/2006/relationships/notesSlide" Target="/ppt/notesSlides/notesSlide9.xml" Id="R66c560e7b4cb4388" /><rel:Relationship Id="rIdSpecialistAudio2" Type="http://schemas.openxmlformats.org/officeDocument/2006/relationships/audio" Target="../media/specialist-noisy.mp3" /><rel:Relationship Id="rIdSpecialistMedia2" Type="http://schemas.microsoft.com/office/2007/relationships/media" Target="../media/specialist-noisy.mp3" /><rel:Relationship Id="rIdSpecialistAudio3" Type="http://schemas.openxmlformats.org/officeDocument/2006/relationships/audio" Target="../media/specialist-denoised.mp3" /><rel:Relationship Id="rIdSpecialistMedia3" Type="http://schemas.microsoft.com/office/2007/relationships/media" Target="../media/specialist-denoised.mp3" /></rel: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f323b04f44013" /><Relationship Type="http://schemas.openxmlformats.org/officeDocument/2006/relationships/notesSlide" Target="/ppt/notesSlides/notesSlide10.xml" Id="Rbad21d4e459345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ff348130c46e7" /><Relationship Type="http://schemas.openxmlformats.org/officeDocument/2006/relationships/chart" Target="/ppt/slides/charts/chart1.xml" Id="R518de19ea1ff4f65" /><Relationship Type="http://schemas.openxmlformats.org/officeDocument/2006/relationships/notesSlide" Target="/ppt/notesSlides/notesSlide11.xml" Id="R62a88d1b62954c7c" /></Relationships>
</file>

<file path=ppt/slides/_rels/slide12.xml.rels><?xml version='1.0' encoding='utf-8'?>
<rel:Relationships xmlns:rel="http://schemas.openxmlformats.org/package/2006/relationships"><rel:Relationship Type="http://schemas.openxmlformats.org/officeDocument/2006/relationships/slideLayout" Target="/ppt/slideLayouts/slideLayout1.xml" Id="Rd736f0beef734f8f" /><rel:Relationship Type="http://schemas.openxmlformats.org/officeDocument/2006/relationships/image" Target="/ppt/media/image12.png" Id="R008dc4308a5344e7" /><rel:Relationship Type="http://schemas.openxmlformats.org/officeDocument/2006/relationships/image" Target="/ppt/media/image13.png" Id="R5aecef4f5f2a4669" /><rel:Relationship Type="http://schemas.openxmlformats.org/officeDocument/2006/relationships/image" Target="/ppt/media/image14.png" Id="R496bd98f9f2b4e4f" /><rel:Relationship Type="http://schemas.openxmlformats.org/officeDocument/2006/relationships/image" Target="/ppt/media/image15.png" Id="R83a87aef31144c9a" /><rel:Relationship Type="http://schemas.openxmlformats.org/officeDocument/2006/relationships/notesSlide" Target="/ppt/notesSlides/notesSlide12.xml" Id="R3e322f3247a0484c" /><rel:Relationship Id="rIdSpecialistAudio2" Type="http://schemas.openxmlformats.org/officeDocument/2006/relationships/audio" Target="../media/specialist-original.mp3" /><rel:Relationship Id="rIdSpecialistMedia2" Type="http://schemas.microsoft.com/office/2007/relationships/media" Target="../media/specialist-original.mp3" /><rel:Relationship Id="rIdSpecialistAudio3" Type="http://schemas.openxmlformats.org/officeDocument/2006/relationships/audio" Target="../media/specialist-vocals.mp3" /><rel:Relationship Id="rIdSpecialistMedia3" Type="http://schemas.microsoft.com/office/2007/relationships/media" Target="../media/specialist-vocals.mp3" /><rel:Relationship Id="rIdSpecialistAudio4" Type="http://schemas.openxmlformats.org/officeDocument/2006/relationships/audio" Target="../media/specialist-instrumental.mp3" /><rel:Relationship Id="rIdSpecialistMedia4" Type="http://schemas.microsoft.com/office/2007/relationships/media" Target="../media/specialist-instrumental.mp3" /><rel:Relationship Id="rIdSpecialistAudio5" Type="http://schemas.openxmlformats.org/officeDocument/2006/relationships/audio" Target="../media/specialist-generated.mp3" /><rel:Relationship Id="rIdSpecialistMedia5" Type="http://schemas.microsoft.com/office/2007/relationships/media" Target="../media/specialist-generated.mp3" /></rel: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276fe97b948b0" /><Relationship Type="http://schemas.openxmlformats.org/officeDocument/2006/relationships/notesSlide" Target="/ppt/notesSlides/notesSlide13.xml" Id="Re5d25143614d4d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432e87904492c" /><Relationship Type="http://schemas.openxmlformats.org/officeDocument/2006/relationships/notesSlide" Target="/ppt/notesSlides/notesSlide14.xml" Id="R32a986ada97747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7c98ebd564463" /><Relationship Type="http://schemas.openxmlformats.org/officeDocument/2006/relationships/notesSlide" Target="/ppt/notesSlides/notesSlide15.xml" Id="R937b84c44e72420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f20f062a44306" /><Relationship Type="http://schemas.openxmlformats.org/officeDocument/2006/relationships/notesSlide" Target="/ppt/notesSlides/notesSlide16.xml" Id="R00fdf039c4094b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dad46f1244b30" /><Relationship Type="http://schemas.openxmlformats.org/officeDocument/2006/relationships/notesSlide" Target="/ppt/notesSlides/notesSlide17.xml" Id="R2c33ff209a764a5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音符事件数</c:v>
          </c:tx>
          <c:spPr>
            <a:solidFill xmlns:a="http://schemas.openxmlformats.org/drawingml/2006/main">
              <a:srgbClr val="28624A"/>
            </a:solidFill>
          </c:spPr>
          <c:cat>
            <c:strRef>
              <c:f>'Chart Data'!$A$2:$A$4</c:f>
              <c:strCache>
                <c:ptCount val="3"/>
                <c:pt idx="0">
                  <c:v>electric bass</c:v>
                </c:pt>
                <c:pt idx="1">
                  <c:v>electric piano</c:v>
                </c:pt>
                <c:pt idx="2">
                  <c:v>drums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262</c:v>
                </c:pt>
                <c:pt idx="1">
                  <c:v>478</c:v>
                </c:pt>
                <c:pt idx="2">
                  <c:v>323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B3034"/>
                  </a:solidFill>
                  <a:latin typeface="PingFang SC"/>
                  <a:ea typeface="PingFang SC"/>
                  <a:cs typeface="PingFang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04be8b8264ed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2c7e79ae44fff"/>
          <a:stretch xmlns:a="http://schemas.openxmlformats.org/drawingml/2006/main"/>
        </p:blipFill>
        <p:spPr>
          <a:xfrm xmlns:a="http://schemas.openxmlformats.org/drawingml/2006/main">
            <a:off x="652463" y="438150"/>
            <a:ext cx="2676525" cy="26765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D2507-A888-4592-AAAA-A8F4D1A0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24175"/>
            <a:ext cx="32194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LLM 也能做，</a:t>
            </a:r>
          </a:p>
          <a:p xmlns:a="http://schemas.openxmlformats.org/drawingml/2006/main">
            <a:pPr>
              <a:defRPr sz="25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为什么还要</a:t>
            </a:r>
          </a:p>
          <a:p xmlns:a="http://schemas.openxmlformats.org/drawingml/2006/main">
            <a:pPr>
              <a:defRPr sz="25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专业模型？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3818A-25DD-40AD-877E-93C7A596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67325"/>
            <a:ext cx="32194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用 Specialist OS</a:t>
            </a:r>
          </a:p>
          <a:p xmlns:a="http://schemas.openxmlformats.org/drawingml/2006/main">
            <a:pPr>
              <a:defRPr sz="1800" b="0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让 Agent 按需调用</a:t>
            </a:r>
          </a:p>
          <a:p xmlns:a="http://schemas.openxmlformats.org/drawingml/2006/main">
            <a:pPr>
              <a:defRPr sz="1800" b="0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本地专业能力</a:t>
            </a:r>
          </a:p>
        </p:txBody>
      </p:sp>
    </p:spTree>
    <p:extLst>
      <p:ext uri="{BB962C8B-B14F-4D97-AF65-F5344CB8AC3E}">
        <p14:creationId xmlns:p14="http://schemas.microsoft.com/office/powerpoint/2010/main" val="239799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6AF2B-0CE2-44EA-B1FD-F474BF90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同一个目标，可以选择不同的执行路径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A1F22-0423-4DB5-8B1D-ED33E965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9B7D6-8EBF-40CA-BC5F-7A7F974D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先确定下一步需要拿到什么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810000"/>
                <a:gridCol w="401955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用户目标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交付到下一步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可调用的专业能力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编辑图片中的对象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像素级 mask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SAM 分割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把文档写入业务系统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文字区域与表格结构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PaddleOCR / MinerU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定位录音中的一次发言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文本与说话人时间线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Whisper / pyannote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继续编辑一段音乐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音符事件与 MIDI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Basic Pitch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28D1C-BC0A-412E-AA1E-9238707A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0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LLM 可以参与这些任务，Agent 按交付要求选择执行工具</a:t>
            </a:r>
          </a:p>
        </p:txBody>
      </p:sp>
    </p:spTree>
    <p:extLst>
      <p:ext uri="{BB962C8B-B14F-4D97-AF65-F5344CB8AC3E}">
        <p14:creationId xmlns:p14="http://schemas.microsoft.com/office/powerpoint/2010/main" val="17779348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B27293-2585-4964-A05C-FA407DF3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Specialist OS：Agent 的专业能力层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8F289-DF3C-49B5-96D0-F64B6D1D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95000-D19C-482D-A328-AC2773DF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Agent 组织任务，专业实现处理选中的步骤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24646-FAD5-4365-A73A-6DA14059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E50BD-00C0-4A29-84B1-7E719DC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LLM /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C6C95-A6C5-46EE-B6F8-33CEDCFC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25431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理解用户目标</a:t>
            </a:r>
          </a:p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选择执行路径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DABA6-6741-4D0F-B8EB-FCBBDE932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2562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任务与输入文件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A6B47-EDE5-4699-91EC-9BB755DC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E7DFD7-0A39-458A-80CE-0FCC5C38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48050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Agent Skill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F8C11-48EC-478B-ADEF-B79EFDC5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52900"/>
            <a:ext cx="25431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发现能力格式</a:t>
            </a:r>
          </a:p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准备本机组件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B33D2-AEB7-4AE1-A5EE-187E01EA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362575"/>
            <a:ext cx="2562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适配任务的调用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B5C1DB-8389-484B-AFB3-4D112CB6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6220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A3179-E9FD-4F15-A596-5BBBD3242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48050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Runtime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4BB26-22C6-4E71-A966-848545E5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52900"/>
            <a:ext cx="25431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策略路由与隔离</a:t>
            </a:r>
          </a:p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加载和复用模型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265BF-7F19-4B51-8C40-FB4BAEEC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62575"/>
            <a:ext cx="2562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执行与错误处理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F0C89-C7FB-44C4-AC9B-AB8CBBD5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2362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457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18ADCB-96CE-4E47-8C50-473FE588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48050"/>
            <a:ext cx="25146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专业模型与算子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B544D-4E8E-46CF-993E-3D813C78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52900"/>
            <a:ext cx="25431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处理图片与声音</a:t>
            </a:r>
          </a:p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执行专业计算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CCC6D1-E07F-4B85-92FD-AFC139F8C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362575"/>
            <a:ext cx="2562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结果与产物来源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71CA6-C20A-4EE6-87CB-0994353C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CLI、Python SDK、HTTP、MCP 使用同一套能力契约</a:t>
            </a:r>
          </a:p>
        </p:txBody>
      </p:sp>
    </p:spTree>
    <p:extLst>
      <p:ext uri="{BB962C8B-B14F-4D97-AF65-F5344CB8AC3E}">
        <p14:creationId xmlns:p14="http://schemas.microsoft.com/office/powerpoint/2010/main" val="3395179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3743C-9274-4613-8FDE-B2285FA9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按结果选择能力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80DD5-014A-4D64-83F0-C6D3B5EC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19325"/>
                <a:gridCol w="4905375"/>
                <a:gridCol w="3848100"/>
              </a:tblGrid>
              <a:tr h="531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能力领域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参考模型与组件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输出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</a:tr>
              <a:tr h="531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视觉感知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YOLO、SAM、Depth Anything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检测框、分割区域、相对深度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文档与界面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PaddleOCR、MinerU、OmniParser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文字、表格、界面元素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  <a:tr h="531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人体与身份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MediaPipe、InsightFace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关键点、姿态、相似度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视觉检索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OpenCLIP / SigLIP2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向量、相似结果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  <a:tr h="531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语音理解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whisper.cpp、Silero VAD、pyannote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转写、语音区间、说话人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531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音频处理与生成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DeepFilterNet、Fish Audio S2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降噪音频、合成与克隆音频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  <a:tr h="531019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几何与媒体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OpenCV、FFmpeg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测量、变换、转码与剪辑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6517C-5D66-499F-A17A-0BFFB68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Core 15 能力族，56 个 API；当前聚焦感知、媒体处理与专业计算</a:t>
            </a:r>
          </a:p>
        </p:txBody>
      </p:sp>
    </p:spTree>
    <p:extLst>
      <p:ext uri="{BB962C8B-B14F-4D97-AF65-F5344CB8AC3E}">
        <p14:creationId xmlns:p14="http://schemas.microsoft.com/office/powerpoint/2010/main" val="15862326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A7E22-B5E0-4C98-9C70-CE24EDA6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图像编辑与复核：位置、区域和层次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65F5E9-40B1-44A4-BD7C-67D8F8E9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c244c5a06d4cc0"/>
          <a:stretch xmlns:a="http://schemas.openxmlformats.org/drawingml/2006/main"/>
        </p:blipFill>
        <p:spPr>
          <a:xfrm xmlns:a="http://schemas.openxmlformats.org/drawingml/2006/main">
            <a:off x="1793081" y="1466850"/>
            <a:ext cx="2728913" cy="3638550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878f39e744f77"/>
          <a:stretch xmlns:a="http://schemas.openxmlformats.org/drawingml/2006/main"/>
        </p:blipFill>
        <p:spPr>
          <a:xfrm xmlns:a="http://schemas.openxmlformats.org/drawingml/2006/main">
            <a:off x="7365206" y="1466850"/>
            <a:ext cx="2728913" cy="3638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6890CE-B366-44A5-8528-32DD061DC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目标检测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18556-EC19-4EE6-AA19-3CA106A1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143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目标位置可继续交给 SAM 做分割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8F5C49-9E10-4693-A22A-AD179C0D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248275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相对深度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7A2CA-7CFA-47E5-AB77-880E399F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743575"/>
            <a:ext cx="5238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补充前后层次，用于区域排序</a:t>
            </a:r>
          </a:p>
        </p:txBody>
      </p:sp>
    </p:spTree>
    <p:extLst>
      <p:ext uri="{BB962C8B-B14F-4D97-AF65-F5344CB8AC3E}">
        <p14:creationId xmlns:p14="http://schemas.microsoft.com/office/powerpoint/2010/main" val="304496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CFA8A-BA6E-49A2-8CCB-DEA28ECA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文档入库：保留文字位置与表格结构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5147AD-15CC-4D6A-A82B-6C7B27D9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474799b8343b0"/>
          <a:stretch xmlns:a="http://schemas.openxmlformats.org/drawingml/2006/main"/>
        </p:blipFill>
        <p:spPr>
          <a:xfrm xmlns:a="http://schemas.openxmlformats.org/drawingml/2006/main">
            <a:off x="1446308" y="1485900"/>
            <a:ext cx="2641410" cy="431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FF6C3-59EB-4F14-B8B9-670A011D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495425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660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124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E919C-249F-46CB-A1FB-0216B66C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098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PaddleOCR 识别的文本区域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06C57-664A-45EB-AEBD-DBA62106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57550"/>
            <a:ext cx="590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Date &amp; Day    Paper    Titles   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A244E-709D-4519-A4ED-83C6A9A4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162425"/>
            <a:ext cx="5905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MinerU 保留更完整的文档结构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6673D-BE14-4E40-BEDB-307D3C0E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743450"/>
            <a:ext cx="59436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10 页文档，9 张表格</a:t>
            </a:r>
          </a:p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正文与公式用于检索和后续处理</a:t>
            </a:r>
          </a:p>
        </p:txBody>
      </p:sp>
    </p:spTree>
    <p:extLst>
      <p:ext uri="{BB962C8B-B14F-4D97-AF65-F5344CB8AC3E}">
        <p14:creationId xmlns:p14="http://schemas.microsoft.com/office/powerpoint/2010/main" val="5734246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9C373-F4A1-4119-BACD-E1AC6429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界面操作：给 Agent 可定位的目标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309E6-1758-41D5-8F74-871B698C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c6ed35a19e4e19"/>
          <a:stretch xmlns:a="http://schemas.openxmlformats.org/drawingml/2006/main"/>
        </p:blipFill>
        <p:spPr>
          <a:xfrm xmlns:a="http://schemas.openxmlformats.org/drawingml/2006/main">
            <a:off x="1249108" y="1676400"/>
            <a:ext cx="6007608" cy="41719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2B437-1B35-4353-9699-7F2E50E7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85925"/>
            <a:ext cx="3048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600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120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F7D41C-17D1-4A06-BF8F-BBCE03A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432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解析元素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F6700-41EF-42F0-9DFC-0ABE5E37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86150"/>
            <a:ext cx="3209925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文字与图标</a:t>
            </a:r>
          </a:p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归一化坐标</a:t>
            </a:r>
          </a:p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元素类型与置信度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014F6-FA84-4365-8D8E-682F4D8A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763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OmniParser 为后续操作提供目标信息，Agent 决定操作步骤</a:t>
            </a:r>
          </a:p>
        </p:txBody>
      </p:sp>
    </p:spTree>
    <p:extLst>
      <p:ext uri="{BB962C8B-B14F-4D97-AF65-F5344CB8AC3E}">
        <p14:creationId xmlns:p14="http://schemas.microsoft.com/office/powerpoint/2010/main" val="635766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CB968-646F-4C5E-BC44-3D7A573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空间产物：模型、表面与相机位姿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09DF5-99D6-4951-8279-03C84C1E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75d2fd880345e4"/>
          <a:stretch xmlns:a="http://schemas.openxmlformats.org/drawingml/2006/main"/>
        </p:blipFill>
        <p:spPr>
          <a:xfrm xmlns:a="http://schemas.openxmlformats.org/drawingml/2006/main">
            <a:off x="609600" y="1771055"/>
            <a:ext cx="3476625" cy="2172891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57cd3d7084c92"/>
          <a:stretch xmlns:a="http://schemas.openxmlformats.org/drawingml/2006/main"/>
        </p:blipFill>
        <p:spPr>
          <a:xfrm xmlns:a="http://schemas.openxmlformats.org/drawingml/2006/main">
            <a:off x="4362450" y="1771055"/>
            <a:ext cx="3476625" cy="2172891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0985349244fe9"/>
          <a:stretch xmlns:a="http://schemas.openxmlformats.org/drawingml/2006/main"/>
        </p:blipFill>
        <p:spPr>
          <a:xfrm xmlns:a="http://schemas.openxmlformats.org/drawingml/2006/main">
            <a:off x="8115300" y="1771055"/>
            <a:ext cx="3476625" cy="21728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14743-DB03-4D1D-B8DD-6DD1081B4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图片生成 3D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50C6E-1870-48BB-9212-30499C7C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TripoSR · 10,019 顶点 · 38.09 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59EF5-657B-4C1A-AE2F-F2336447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4767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单目场景几何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B5E1E-2A67-43DF-BC22-712E835E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0537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MoGe 2 · 568,186 三角面 · 3.55 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59A95-C1BD-4307-8AFE-E11D5512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标定与 PnP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16E1D-9712-4885-90B9-E24EDBAA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0537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11 张照片 · 0.248 / 0.193 px RMS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7E0F60-5C53-44B8-859C-07276FE4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三条路线都通过 Specialist CLI 产生真实产物；生成资产、估计几何与测量依据分开表达</a:t>
            </a:r>
          </a:p>
        </p:txBody>
      </p:sp>
    </p:spTree>
    <p:extLst>
      <p:ext uri="{BB962C8B-B14F-4D97-AF65-F5344CB8AC3E}">
        <p14:creationId xmlns:p14="http://schemas.microsoft.com/office/powerpoint/2010/main" val="787063069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2B303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0" name="">
            <a:extLst>
              <a:ext uri="{FF2B5EF4-FFF2-40B4-BE49-F238E27FC236}">
                <ns2:creationId id="{B45943B7-7338-4352-AE63-AF966602E124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录音检索：找到谁在什么时候说了什么</a:t>
            </a:r>
          </a:p>
        </p:txBody>
      </p:sp>
      <p:sp>
        <p:nvSpPr>
          <p:cNvPr id="2" name="">
            <a:extLst>
              <a:ext uri="{FF2B5EF4-FFF2-40B4-BE49-F238E27FC236}">
                <ns2:creationId id="{30455BCF-B9FB-4B7C-A2D0-DB9E39E947D1}"/>
              </a:ext>
            </a:extLst>
          </p:cNvPr>
          <p:cNvSpPr>
            <a:spLocks noGrp="1"/>
          </p:cNvSpPr>
          <p:nvPr/>
        </p:nvSpPr>
        <p:spPr>
          <a:xfrm>
            <a:off x="11106150" y="63531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BED6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ED60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3" name="">
            <a:extLst>
              <a:ext uri="{FF2B5EF4-FFF2-40B4-BE49-F238E27FC236}">
                <ns2:creationId id="{96E71C22-AA47-48D0-A2E0-3BE0D85D66F5}"/>
              </a:ext>
            </a:extLst>
          </p:cNvPr>
          <p:cNvSpPr>
            <a:spLocks noGrp="1"/>
          </p:cNvSpPr>
          <p:nvPr/>
        </p:nvSpPr>
        <p:spPr>
          <a:xfrm>
            <a:off x="609600" y="1590675"/>
            <a:ext cx="41910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75" b="1">
                <a:solidFill>
                  <a:srgbClr val="BED600"/>
                </a:solidFill>
                <a:latin typeface="PingFang SC"/>
                <a:ea typeface="PingFang SC"/>
                <a:cs typeface="PingFang SC"/>
              </a:defRPr>
            </a:pPr>
            <a:r>
              <a:rPr sz="3375" b="1">
                <a:solidFill>
                  <a:srgbClr val="BED600"/>
                </a:solidFill>
                <a:latin typeface="PingFang SC"/>
                <a:ea typeface="PingFang SC"/>
                <a:cs typeface="PingFang SC"/>
              </a:rPr>
              <a:t>20 秒录音</a:t>
            </a:r>
          </a:p>
        </p:txBody>
      </p:sp>
      <p:sp>
        <p:nvSpPr>
          <p:cNvPr id="4" name="">
            <a:extLst>
              <a:ext uri="{FF2B5EF4-FFF2-40B4-BE49-F238E27FC236}">
                <ns2:creationId id="{E6FF7917-546A-4DD1-98C2-BDF65D0FC11E}"/>
              </a:ext>
            </a:extLst>
          </p:cNvPr>
          <p:cNvSpPr>
            <a:spLocks noGrp="1"/>
          </p:cNvSpPr>
          <p:nvPr/>
        </p:nvSpPr>
        <p:spPr>
          <a:xfrm>
            <a:off x="609600" y="2390775"/>
            <a:ext cx="52387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 位说话人，4 段发言</a:t>
            </a:r>
          </a:p>
        </p:txBody>
      </p:sp>
      <p:sp>
        <p:nvSpPr>
          <p:cNvPr id="5" name="">
            <a:extLst>
              <a:ext uri="{FF2B5EF4-FFF2-40B4-BE49-F238E27FC236}">
                <ns2:creationId id="{19801D41-BFF5-4B71-9B2E-441F5B662629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10953750" cy="1076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“The customer reported an intermittent</a:t>
            </a:r>
          </a:p>
          <a:p>
            <a:pPr>
              <a:defRPr sz="25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checkout failure after the morning release.”</a:t>
            </a:r>
          </a:p>
        </p:txBody>
      </p:sp>
      <p:sp>
        <p:nvSpPr>
          <p:cNvPr id="6" name="">
            <a:extLst>
              <a:ext uri="{FF2B5EF4-FFF2-40B4-BE49-F238E27FC236}">
                <ns2:creationId id="{42D8C41B-3B6C-438A-A98F-B6F226622A09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降噪前</a:t>
            </a:r>
          </a:p>
        </p:txBody>
      </p:sp>
      <p:pic>
        <p:nvPicPr>
          <p:cNvPr id="16" name="noisy" descr="audio:noisy">
            <a:hlinkClick action="ppaction://media"/>
          </p:cNvPr>
          <p:cNvPicPr>
            <a:picLocks noChangeAspect="1"/>
          </p:cNvPicPr>
          <p:nvPr>
            <a:audioFile r:link="rIdSpecialistAudio2"/>
            <p:extLst>
              <p:ext uri="{DAA4B4D4-6D71-4841-9C94-3DE7FCFB9230}">
                <p14:media r:embed="rIdSpecialistMedia2"/>
              </p:ext>
            </p:extLst>
          </p:nvPr>
        </p:nvPicPr>
        <p:blipFill>
          <a:blip r:embed="Rde544048a99c4066"/>
          <a:stretch/>
        </p:blipFill>
        <p:spPr>
          <a:xfrm>
            <a:off x="1714500" y="5353050"/>
            <a:ext cx="2743200" cy="514350"/>
          </a:xfrm>
          <a:prstGeom prst="rect">
            <a:avLst/>
          </a:prstGeom>
        </p:spPr>
      </p:pic>
      <p:sp>
        <p:nvSpPr>
          <p:cNvPr id="8" name="">
            <a:extLst>
              <a:ext uri="{FF2B5EF4-FFF2-40B4-BE49-F238E27FC236}">
                <ns2:creationId id="{E03D6B6B-390C-472B-8E6E-5EAE44FAFA45}"/>
              </a:ext>
            </a:extLst>
          </p:cNvPr>
          <p:cNvSpPr>
            <a:spLocks noGrp="1"/>
          </p:cNvSpPr>
          <p:nvPr/>
        </p:nvSpPr>
        <p:spPr>
          <a:xfrm>
            <a:off x="6191250" y="4933950"/>
            <a:ext cx="49530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DeepFilterNet 降噪后</a:t>
            </a:r>
          </a:p>
        </p:txBody>
      </p:sp>
      <p:pic>
        <p:nvPicPr>
          <p:cNvPr id="18" name="denoised" descr="audio:denoised">
            <a:hlinkClick action="ppaction://media"/>
          </p:cNvPr>
          <p:cNvPicPr>
            <a:picLocks noChangeAspect="1"/>
          </p:cNvPicPr>
          <p:nvPr>
            <a:audioFile r:link="rIdSpecialistAudio3"/>
            <p:extLst>
              <p:ext uri="{DAA4B4D4-6D71-4841-9C94-3DE7FCFB9230}">
                <p14:media r:embed="rIdSpecialistMedia3"/>
              </p:ext>
            </p:extLst>
          </p:nvPr>
        </p:nvPicPr>
        <p:blipFill>
          <a:blip r:embed="Rf4859697be814dcf"/>
          <a:stretch/>
        </p:blipFill>
        <p:spPr>
          <a:xfrm>
            <a:off x="7296150" y="5353050"/>
            <a:ext cx="2743200" cy="514350"/>
          </a:xfrm>
          <a:prstGeom prst="rect">
            <a:avLst/>
          </a:prstGeom>
        </p:spPr>
      </p:pic>
    </p:spTree>
    <p:extLst>
      <p:ext uri="{BB962C8B-B14F-4D97-AF65-F5344CB8AC3E}">
        <p14:creationId val="468027501"/>
      </p:ext>
    </p:extLst>
  </p:cSld>
  <p:timing>
    <p:tnLst>
      <p:par>
        <p:cTn id="1" dur="indefinite" restart="never" nodeType="tmRoot">
          <p:childTnLst>
            <p:audi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audio>
            <p:audio>
              <p:cMediaNode vol="100000">
                <p:cTn id="3" fill="hold" display="0">
                  <p:stCondLst>
                    <p:cond delay="indefinite"/>
                  </p:st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D8DA85-498D-4F97-9463-64217695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音乐素材：节奏、调性与录音指纹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DD833-A039-42F1-9EFF-1D2DD4E8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147E4A-2530-404A-8BED-3951BC33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Vibe 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85155-52F4-4B83-B5F5-F1201413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Kevin MacLeod / 爵士乐 / 61.46 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D1F16-8302-4ADB-9CCE-B2CDC7A5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361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30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630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129.7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392BA-651C-442B-87F6-8A3E7A77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361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BPM 估计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C39BBD-9DA1-4A14-9219-F0F37192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248025"/>
            <a:ext cx="666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4275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E major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3E03A7-6ED8-4DDF-83DE-4A5BF06E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238625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Essentia 调性分析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29BCD-E4E7-4F00-B0AC-BEF28D51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素材库按节奏与调性筛选配乐，录音指纹支持同源素材核对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77A126-3EF4-4941-AA2E-8E1074ED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现场播放原曲，再查看分析和指纹比较结果</a:t>
            </a:r>
          </a:p>
        </p:txBody>
      </p:sp>
    </p:spTree>
    <p:extLst>
      <p:ext uri="{BB962C8B-B14F-4D97-AF65-F5344CB8AC3E}">
        <p14:creationId xmlns:p14="http://schemas.microsoft.com/office/powerpoint/2010/main" val="12179097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EBF6C7-7C7C-4232-AF99-B9A94536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音乐制作：分轨试听与多乐器 MIDI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C041E-1C1F-48E4-A723-8695DA87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EDC34-F19E-4BF0-B5F3-E195D510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675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1063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D92A5-C9E4-4092-B545-8A7DBF7C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4048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3 个乐器轨道的音符事件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95B55-9EF5-4100-A894-7A3DE080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0481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MuScriptor 保留乐器与时间</a:t>
            </a:r>
          </a:p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完整和分轨 MIDI 继续编曲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985DA-728B-4F99-9CE2-6283F5F7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31.29 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F206A-E60F-41E8-84D5-71DDEF5F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本机 MPS，权重已准备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810125" y="2009775"/>
          <a:ext xmlns:a="http://schemas.openxmlformats.org/drawingml/2006/main" cx="6762750" cy="34861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8de19ea1ff4f65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6A83C-A318-4FC0-849E-3FAFC8DD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9542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本次转写的乐器轨道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6277B-6718-4ED9-A19F-DEC581A5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76262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人声与伴奏分离 16.97 秒，现场试听 WAV</a:t>
            </a:r>
          </a:p>
        </p:txBody>
      </p:sp>
    </p:spTree>
    <p:extLst>
      <p:ext uri="{BB962C8B-B14F-4D97-AF65-F5344CB8AC3E}">
        <p14:creationId xmlns:p14="http://schemas.microsoft.com/office/powerpoint/2010/main" val="98755245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" name="">
            <a:extLst>
              <a:ext uri="{FF2B5EF4-FFF2-40B4-BE49-F238E27FC236}">
                <ns2:creationId id="{681C7379-00DA-46DD-8A32-06FBEB59522D}"/>
              </a:ext>
            </a:extLst>
          </p:cNvPr>
          <p:cNvSpPr>
            <a:spLocks noGrp="1"/>
          </p:cNvSpPr>
          <p:nvPr/>
        </p:nvSpPr>
        <p:spPr>
          <a:xfrm>
            <a:off x="609600" y="428625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音乐工作流：练习素材与原创配乐</a:t>
            </a:r>
          </a:p>
        </p:txBody>
      </p:sp>
      <p:sp>
        <p:nvSpPr>
          <p:cNvPr id="2" name="">
            <a:extLst>
              <a:ext uri="{FF2B5EF4-FFF2-40B4-BE49-F238E27FC236}">
                <ns2:creationId id="{2698993E-B6E0-4B54-9F07-E1330E7E0B7A}"/>
              </a:ext>
            </a:extLst>
          </p:cNvPr>
          <p:cNvSpPr>
            <a:spLocks noGrp="1"/>
          </p:cNvSpPr>
          <p:nvPr/>
        </p:nvSpPr>
        <p:spPr>
          <a:xfrm>
            <a:off x="11106150" y="6353175"/>
            <a:ext cx="4762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3" name="">
            <a:extLst>
              <a:ext uri="{FF2B5EF4-FFF2-40B4-BE49-F238E27FC236}">
                <ns2:creationId id="{E7FA0894-9FA4-4CF6-A872-BFF228D53EE1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06125" cy="581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Let's Go Fishin' / Karissa Hobbs / 132.99 秒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="609600" y="2124075"/>
          <a:ext cx="10972800" cy="2324100"/>
        </p:xfrm>
        <a:graphic>
          <a:graphicData uri="http://schemas.openxmlformats.org/drawingml/2006/table">
            <a:tbl>
              <a:tblPr/>
              <a:tblGrid>
                <a:gridCol w="2333625"/>
                <a:gridCol w="4667250"/>
                <a:gridCol w="3971925"/>
              </a:tblGrid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用户目标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实际执行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交付结果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演唱练习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Whisper + ROSVOT + Essentia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歌词、旋律 MIDI、节拍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编曲草稿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MuScriptor + 分离 + 分轨转写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多轨 MIDI、人声与伴奏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  <a:tr h="5810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创作配乐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ACE-Step 1.5 本机生成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 秒爵士放克 WAV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>
              <a:ext uri="{FF2B5EF4-FFF2-40B4-BE49-F238E27FC236}">
                <ns2:creationId id="{BB5A1C0E-8FCA-4999-8F3F-AE1D14AE207B}"/>
              </a:ext>
            </a:extLst>
          </p:cNvPr>
          <p:cNvSpPr>
            <a:spLocks noGrp="1"/>
          </p:cNvSpPr>
          <p:nvPr/>
        </p:nvSpPr>
        <p:spPr>
          <a:xfrm>
            <a:off x="609600" y="47434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原曲</a:t>
            </a:r>
          </a:p>
        </p:txBody>
      </p:sp>
      <p:pic>
        <p:nvPicPr>
          <p:cNvPr id="19" name="original" descr="audio:original">
            <a:hlinkClick action="ppaction://media"/>
          </p:cNvPr>
          <p:cNvPicPr>
            <a:picLocks noChangeAspect="1"/>
          </p:cNvPicPr>
          <p:nvPr>
            <a:audioFile r:link="rIdSpecialistAudio2"/>
            <p:extLst>
              <p:ext uri="{DAA4B4D4-6D71-4841-9C94-3DE7FCFB9230}">
                <p14:media r:embed="rIdSpecialistMedia2"/>
              </p:ext>
            </p:extLst>
          </p:nvPr>
        </p:nvPicPr>
        <p:blipFill>
          <a:blip r:embed="R008dc4308a5344e7"/>
          <a:stretch/>
        </p:blipFill>
        <p:spPr>
          <a:xfrm>
            <a:off x="609600" y="5187553"/>
            <a:ext cx="2476500" cy="464344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4D85B3AE-83F7-426E-8177-D9BEFD1B2D57}"/>
              </a:ext>
            </a:extLst>
          </p:cNvPr>
          <p:cNvSpPr>
            <a:spLocks noGrp="1"/>
          </p:cNvSpPr>
          <p:nvPr/>
        </p:nvSpPr>
        <p:spPr>
          <a:xfrm>
            <a:off x="3409950" y="47434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人声</a:t>
            </a:r>
          </a:p>
        </p:txBody>
      </p:sp>
      <p:pic>
        <p:nvPicPr>
          <p:cNvPr id="21" name="vocals" descr="audio:vocals">
            <a:hlinkClick action="ppaction://media"/>
          </p:cNvPr>
          <p:cNvPicPr>
            <a:picLocks noChangeAspect="1"/>
          </p:cNvPicPr>
          <p:nvPr>
            <a:audioFile r:link="rIdSpecialistAudio3"/>
            <p:extLst>
              <p:ext uri="{DAA4B4D4-6D71-4841-9C94-3DE7FCFB9230}">
                <p14:media r:embed="rIdSpecialistMedia3"/>
              </p:ext>
            </p:extLst>
          </p:nvPr>
        </p:nvPicPr>
        <p:blipFill>
          <a:blip r:embed="R5aecef4f5f2a4669"/>
          <a:stretch/>
        </p:blipFill>
        <p:spPr>
          <a:xfrm>
            <a:off x="3409950" y="5187553"/>
            <a:ext cx="2476500" cy="464344"/>
          </a:xfrm>
          <a:prstGeom prst="rect">
            <a:avLst/>
          </a:prstGeom>
        </p:spPr>
      </p:pic>
      <p:sp>
        <p:nvSpPr>
          <p:cNvPr id="9" name="">
            <a:extLst>
              <a:ext uri="{FF2B5EF4-FFF2-40B4-BE49-F238E27FC236}">
                <ns2:creationId id="{7D14BA88-F9DF-418C-9C3B-047ECCEC3904}"/>
              </a:ext>
            </a:extLst>
          </p:cNvPr>
          <p:cNvSpPr>
            <a:spLocks noGrp="1"/>
          </p:cNvSpPr>
          <p:nvPr/>
        </p:nvSpPr>
        <p:spPr>
          <a:xfrm>
            <a:off x="6210300" y="47434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伴奏</a:t>
            </a:r>
          </a:p>
        </p:txBody>
      </p:sp>
      <p:pic>
        <p:nvPicPr>
          <p:cNvPr id="23" name="instrumental" descr="audio:instrumental">
            <a:hlinkClick action="ppaction://media"/>
          </p:cNvPr>
          <p:cNvPicPr>
            <a:picLocks noChangeAspect="1"/>
          </p:cNvPicPr>
          <p:nvPr>
            <a:audioFile r:link="rIdSpecialistAudio4"/>
            <p:extLst>
              <p:ext uri="{DAA4B4D4-6D71-4841-9C94-3DE7FCFB9230}">
                <p14:media r:embed="rIdSpecialistMedia4"/>
              </p:ext>
            </p:extLst>
          </p:nvPr>
        </p:nvPicPr>
        <p:blipFill>
          <a:blip r:embed="R496bd98f9f2b4e4f"/>
          <a:stretch/>
        </p:blipFill>
        <p:spPr>
          <a:xfrm>
            <a:off x="6210300" y="5187553"/>
            <a:ext cx="2476500" cy="464344"/>
          </a:xfrm>
          <a:prstGeom prst="rect">
            <a:avLst/>
          </a:prstGeom>
        </p:spPr>
      </p:pic>
      <p:sp>
        <p:nvSpPr>
          <p:cNvPr id="11" name="">
            <a:extLst>
              <a:ext uri="{FF2B5EF4-FFF2-40B4-BE49-F238E27FC236}">
                <ns2:creationId id="{2D166D39-99C1-42D7-8A47-510F8529018D}"/>
              </a:ext>
            </a:extLst>
          </p:cNvPr>
          <p:cNvSpPr>
            <a:spLocks noGrp="1"/>
          </p:cNvSpPr>
          <p:nvPr/>
        </p:nvSpPr>
        <p:spPr>
          <a:xfrm>
            <a:off x="9010650" y="47434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生成配乐</a:t>
            </a:r>
          </a:p>
        </p:txBody>
      </p:sp>
      <p:pic>
        <p:nvPicPr>
          <p:cNvPr id="25" name="generated" descr="audio:generated">
            <a:hlinkClick action="ppaction://media"/>
          </p:cNvPr>
          <p:cNvPicPr>
            <a:picLocks noChangeAspect="1"/>
          </p:cNvPicPr>
          <p:nvPr>
            <a:audioFile r:link="rIdSpecialistAudio5"/>
            <p:extLst>
              <p:ext uri="{DAA4B4D4-6D71-4841-9C94-3DE7FCFB9230}">
                <p14:media r:embed="rIdSpecialistMedia5"/>
              </p:ext>
            </p:extLst>
          </p:nvPr>
        </p:nvPicPr>
        <p:blipFill>
          <a:blip r:embed="R83a87aef31144c9a"/>
          <a:stretch/>
        </p:blipFill>
        <p:spPr>
          <a:xfrm>
            <a:off x="9010650" y="5187553"/>
            <a:ext cx="2476500" cy="464344"/>
          </a:xfrm>
          <a:prstGeom prst="rect">
            <a:avLst/>
          </a:prstGeom>
        </p:spPr>
      </p:pic>
      <p:sp>
        <p:nvSpPr>
          <p:cNvPr id="13" name="">
            <a:extLst>
              <a:ext uri="{FF2B5EF4-FFF2-40B4-BE49-F238E27FC236}">
                <ns2:creationId id="{254876BD-2E91-4379-A6D5-A12F242599C7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唱段解析 32.20 s    完整转写 141.83 s    配乐生成 36.94 s</a:t>
            </a:r>
          </a:p>
        </p:txBody>
      </p:sp>
    </p:spTree>
    <p:extLst>
      <p:ext uri="{BB962C8B-B14F-4D97-AF65-F5344CB8AC3E}">
        <p14:creationId val="1635835993"/>
      </p:ext>
    </p:extLst>
  </p:cSld>
  <p:timing>
    <p:tnLst>
      <p:par>
        <p:cTn id="1" dur="indefinite" restart="never" nodeType="tmRoot">
          <p:childTnLst>
            <p:audi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audio>
            <p:audio>
              <p:cMediaNode vol="100000">
                <p:cTn id="3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audio>
            <p:audio>
              <p:cMediaNode vol="100000">
                <p:cTn id="4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audio>
            <p:audio>
              <p:cMediaNode vol="100000">
                <p:cTn id="5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CA506-3412-435E-B003-4086876A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Agent Skill：按任务准备本机能力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FF7DE-E67B-4BB9-9074-B9468714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DE9A6-D1C8-4D79-91E1-2B83DD36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62FCF-F200-4405-8A6A-7C2FFD38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383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发现所需能力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C468E-2542-4148-9625-27AD0330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098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先看简表，再读取选中能力的输入与输出格式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256884-8FC2-425F-B0EE-D7739135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52775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65D49-AAC6-4D5C-B410-DE74AC89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718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按需下载与安装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BDA89-0942-49DC-AE29-5646BC23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433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在本机隔离环境中准备模型，后续任务复用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6BF64F-DDDB-4BE5-A35E-899AC5B0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26DBCE-B207-4C75-9FE3-5C138905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0535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执行并交付产物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35861A-2B91-41A9-8320-3C9EDB4F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768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向用户展示图片、音频或文本，保留结果来源</a:t>
            </a:r>
          </a:p>
        </p:txBody>
      </p:sp>
    </p:spTree>
    <p:extLst>
      <p:ext uri="{BB962C8B-B14F-4D97-AF65-F5344CB8AC3E}">
        <p14:creationId xmlns:p14="http://schemas.microsoft.com/office/powerpoint/2010/main" val="7247535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2A1B6-A50A-436A-B781-3698308E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本地执行：模型准备一次，连续任务复用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F6150-61B6-4DA2-B2A6-C091C07F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4A698-7BDD-4A7A-AF71-5F019AA8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650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7650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3×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2FFB2-11E6-48CA-9EB5-03C424DD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三次 YOLO 调用的批处理加速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3800475"/>
          <a:ext xmlns:a="http://schemas.openxmlformats.org/drawingml/2006/main" cx="10972800" cy="1485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238750"/>
                <a:gridCol w="2476500"/>
                <a:gridCol w="32575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执行方式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总耗时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模型进程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三次独立 CLI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6.02 秒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每次重新启动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同一批处理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2.00 秒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连续调用复用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E1D08-BD86-43A5-9B3F-1F3CE117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能力发现输出减少 93%，按能力查详情可进一步缩小上下文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FC6DE-57DC-4C7B-8D82-87B6612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763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M4 Pro CPU，权重已下载，禁用结果缓存；不含首次安装</a:t>
            </a:r>
          </a:p>
        </p:txBody>
      </p:sp>
    </p:spTree>
    <p:extLst>
      <p:ext uri="{BB962C8B-B14F-4D97-AF65-F5344CB8AC3E}">
        <p14:creationId xmlns:p14="http://schemas.microsoft.com/office/powerpoint/2010/main" val="6015541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4FF93-2038-484C-B78E-0ABF47B6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工程接入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5C95C-5763-4751-8C53-C5EB0A9E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65593B-3CAB-43C9-BD06-68DAFFFA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81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先用 Agent 验证，再沿用到业务代码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18A9E-ADFF-45A2-9287-C4FB1A79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764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Python SDK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9FB09-7DB5-47DD-BBD6-56A5BA7B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6905625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runtime = SpecialistRuntime(</a:t>
            </a:r>
          </a:p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    backend="real", isolate=True</a:t>
            </a:r>
          </a:p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)</a:t>
            </a:r>
          </a:p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try:</a:t>
            </a:r>
          </a:p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    result = runtime.run(</a:t>
            </a:r>
          </a:p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        "vision.ocr", path</a:t>
            </a:r>
          </a:p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    )</a:t>
            </a:r>
          </a:p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finally:</a:t>
            </a:r>
          </a:p>
          <a:p xmlns:a="http://schemas.openxmlformats.org/drawingml/2006/main">
            <a:pPr>
              <a:def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    runtime.close()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924800" y="2371725"/>
          <a:ext xmlns:a="http://schemas.openxmlformats.org/drawingml/2006/main" cx="36576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276475"/>
              </a:tblGrid>
              <a:tr h="6515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接入方式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适合的使用场景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</a:tr>
              <a:tr h="6515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CLI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脚本与批处理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Python SDK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应用内部逻辑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  <a:tr h="6515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MCP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持续 Agent 会话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65151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HTTP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服务边界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4280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FF416-AD6E-4404-A04E-099C5C58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2B3034"/>
                </a:solidFill>
                <a:latin typeface="PingFang SC"/>
                <a:ea typeface="PingFang SC"/>
                <a:cs typeface="PingFang SC"/>
              </a:rPr>
              <a:t>什么时候值得调用专业能力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EF00E-864D-4340-8C96-1B13E90B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12702-42AA-4DB4-8120-1064A1C9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25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28624A"/>
                </a:solidFill>
                <a:latin typeface="PingFang SC"/>
                <a:ea typeface="PingFang SC"/>
                <a:cs typeface="PingFang SC"/>
              </a:defRPr>
            </a:pPr>
            <a:r>
              <a:rPr sz="2475" b="1">
                <a:solidFill>
                  <a:srgbClr val="28624A"/>
                </a:solidFill>
                <a:latin typeface="PingFang SC"/>
                <a:ea typeface="PingFang SC"/>
                <a:cs typeface="PingFang SC"/>
              </a:rPr>
              <a:t>按任务选择，沿用已经验证的实现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095750"/>
                <a:gridCol w="4533900"/>
              </a:tblGrid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任务条件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选择依据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接入时验证</a:t>
                      </a:r>
                    </a:p>
                  </a:txBody>
                  <a:tcPr marL="152400" marR="114300" marT="114300" marB="95250" anchor="ctr">
                    <a:solidFill>
                      <a:srgbClr val="2B3034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需要特定产物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mask、坐标、时间线、MIDI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下游能否直接消费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大量重复处理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固定流程、模型进程复用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总耗时与单件处理成本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希望本地运行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数据位置与可用硬件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内存、安装与许可证</a:t>
                      </a:r>
                    </a:p>
                  </a:txBody>
                  <a:tcPr marL="152400" marR="114300" marT="114300" marB="9525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需要开放理解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意图、上下文与例外情况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2B3034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LLM 直接处理或组合工具</a:t>
                      </a:r>
                    </a:p>
                  </a:txBody>
                  <a:tcPr marL="152400" marR="114300" marT="114300" marB="95250" anchor="ctr">
                    <a:solidFill>
                      <a:srgbClr val="F0F3F2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038CA-C388-4628-9FFD-F3D8DE9F5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96268"/>
                </a:solidFill>
                <a:latin typeface="PingFang SC"/>
                <a:ea typeface="PingFang SC"/>
                <a:cs typeface="PingFang SC"/>
              </a:rPr>
              <a:t>在同一批业务样本上比较候选路径，再决定分工</a:t>
            </a:r>
          </a:p>
        </p:txBody>
      </p:sp>
    </p:spTree>
    <p:extLst>
      <p:ext uri="{BB962C8B-B14F-4D97-AF65-F5344CB8AC3E}">
        <p14:creationId xmlns:p14="http://schemas.microsoft.com/office/powerpoint/2010/main" val="1848506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B30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E2DC0-77E4-4AB1-9148-EAB7D67E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10 分钟现场：Codex 调用 CLI 并交付结果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0914C-10FF-4101-81EB-03798233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531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ED6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BED60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5090C-6D9C-4542-AC5C-E66EFE3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任务输入、真实执行、产物检查、打开交付页面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C93D1-1F8F-4A6D-AC1F-1B951890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858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00:00  发起音乐长任务，查看能力发现与视觉处理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02:15  文档与界面理解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03:45  语音转写与降噪对照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05:15  歌曲练习工作区、多轨 MIDI 与生成配乐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07:15  人体、检索与空间结果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09:00  批处理性能与项目接入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7142D3-25D3-4959-BD48-A1AAD22B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BED600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BED600"/>
                </a:solidFill>
                <a:latin typeface="PingFang SC"/>
                <a:ea typeface="PingFang SC"/>
                <a:cs typeface="PingFang SC"/>
              </a:rPr>
              <a:t>产品选一个场景，工程接一个能力</a:t>
            </a:r>
          </a:p>
        </p:txBody>
      </p:sp>
    </p:spTree>
    <p:extLst>
      <p:ext uri="{BB962C8B-B14F-4D97-AF65-F5344CB8AC3E}">
        <p14:creationId xmlns:p14="http://schemas.microsoft.com/office/powerpoint/2010/main" val="597667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2026-09-07T09:03:12.3060000Z</dcterms:created>
  <dcterms:modified xsi:type="dcterms:W3CDTF">2026-09-07T09:03:12.3060000Z</dcterms:modified>
</coreProperties>
</file>